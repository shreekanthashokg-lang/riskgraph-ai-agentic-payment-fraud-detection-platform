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Random Forest — test metrics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Forest (test)</c:v>
                </c:pt>
              </c:strCache>
            </c:strRef>
          </c:tx>
          <c:spPr>
            <a:solidFill>
              <a:srgbClr val="3D5AF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Precision</c:v>
                  </c:pt>
                  <c:pt idx="1">
                    <c:v>Recall</c:v>
                  </c:pt>
                  <c:pt idx="2">
                    <c:v>F1</c:v>
                  </c:pt>
                  <c:pt idx="3">
                    <c:v>ROC-AUC</c:v>
                  </c:pt>
                  <c:pt idx="4">
                    <c:v>PR-AUC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0.797</c:v>
                </c:pt>
                <c:pt idx="1">
                  <c:v>0.728</c:v>
                </c:pt>
                <c:pt idx="2">
                  <c:v>0.761</c:v>
                </c:pt>
                <c:pt idx="3">
                  <c:v>0.982</c:v>
                </c:pt>
                <c:pt idx="4">
                  <c:v>0.78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12700" cap="flat">
              <a:solidFill>
                <a:srgbClr val="E5E9F5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389120"/>
            <a:ext cx="3840480" cy="384048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AI BUILDER INTERNSHIP 2026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7373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— AI Risk Manager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RiskGraph AI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Payment Fraud Detection Platform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0233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ML risk scoring  +  fraud-ring graph detection  +  policy-grounded AI investigation agent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5806440"/>
            <a:ext cx="2011680" cy="0"/>
          </a:xfrm>
          <a:prstGeom prst="line">
            <a:avLst/>
          </a:prstGeom>
          <a:noFill/>
          <a:ln w="25400">
            <a:solidFill>
              <a:srgbClr val="3D5A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SHREEKANTH A GUTTEDAR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— AI/ML &amp; Data Science, S-VYASA Deemed University, Bengaluru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fraud is a network problem hiding inside individual transactions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74920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566928" cy="566928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1612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94767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rings, not isolated events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0604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devices, IPs, and beneficiaries link seemingly unrelated transactions into coordinated fraud rings that single-transaction checks miss.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691640"/>
            <a:ext cx="5074920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965960"/>
            <a:ext cx="566928" cy="566928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📏</a:t>
            </a:r>
            <a:endParaRPr lang="en-US" sz="1612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194767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systems miss the unknown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60604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rules catch known patterns but can't adapt to evolving fraud behavior or subtle statistical anomalies.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5074920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114800"/>
            <a:ext cx="566928" cy="566928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114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🕸️</a:t>
            </a:r>
            <a:endParaRPr lang="en-US" sz="1612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09651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alone has no relationships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75488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classifier scores a transaction in isolation — it has no notion of who else shares this device, IP, or payee.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35040" y="3840480"/>
            <a:ext cx="5074920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4114800"/>
            <a:ext cx="566928" cy="566928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09360" y="4114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🧑‍💼</a:t>
            </a:r>
            <a:endParaRPr lang="en-US" sz="1612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409651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investigation doesn't scale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475488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reviewing flagged cases without structured, evidence-grounded assistance is slow and inconsistent.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RiskGraph AI  |  Razorpay AI Builder Internship 2026 — Track 2: AI Risk Manager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decision pipeline — detection, investigation, and human authority stay architecturally separate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6B76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65176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2651760"/>
            <a:ext cx="155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487168" y="265176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3D5A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487168" y="265176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Analysis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Graph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178808" y="2651760"/>
            <a:ext cx="155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34256" y="265176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3D5AF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34256" y="265176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Risk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025896" y="2651760"/>
            <a:ext cx="155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81344" y="265176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81344" y="265176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872984" y="2651760"/>
            <a:ext cx="155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28432" y="265176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E67E2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28432" y="265176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Critical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720072" y="2651760"/>
            <a:ext cx="155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875520" y="265176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2E8B5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875520" y="265176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206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CRITICAL cases route to an AI investigation agent (Claude) which gathers evidence and cites policy — but a human analyst always makes the final call.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029200"/>
            <a:ext cx="2377440" cy="64008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5029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46120" y="5029200"/>
            <a:ext cx="2377440" cy="64008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246120" y="5029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52160" y="5029200"/>
            <a:ext cx="2377440" cy="64008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852160" y="5029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458200" y="5029200"/>
            <a:ext cx="2377440" cy="64008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458200" y="5029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RiskGraph AI  |  Razorpay AI Builder Internship 2026 — Track 2: AI Risk Manager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non-synthetic transaction data — not the project's own synthetic generator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299,695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69164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83280" y="1783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6,000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26480" y="1783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2.21%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fraud rate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69680" y="169164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869680" y="1783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86968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6118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transaction_id, user_id, account_age_days, total_transactions_user, avg_amount_user, amount, country, bin_country, channel, merchant_category, promo_used, avs_match, cvv_result, three_ds_flag, transaction_time, shipping_distance_km, is_fraud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572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is_fraud (binary)  •  No missing values in the raw file  •  Train/val/test split 60/20/20, stratified, seed 42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1206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8E1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52303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disclosure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55321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synthetic generator (9 fraud archetypes with deliberately shared devices/IPs) exists only to demo the fraud-ring graph view, since this real dataset has no device/IP fields. It is clearly labeled synthetic and never mixed into the real-data model's reported metrics.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RiskGraph AI  |  Razorpay AI Builder Internship 2026 — Track 2: AI Risk Manager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model features, computed leakage-safe from the real dataset's own history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9164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6916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History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331720"/>
            <a:ext cx="22768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customer_age_days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customer_transaction_count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amount_to_baseline_ratio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69164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169164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83280" y="16916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/ Velocity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547872" y="2331720"/>
            <a:ext cx="22768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velocity_1m / 10m / 1h / 24h (real, timestamp-based)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previous_fraud_alerts (leakage-safe)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69164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0" y="169164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26480" y="16916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Signals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291072" y="2331720"/>
            <a:ext cx="22768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promo_used, avs_match, cvv_result, three_ds_flag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shipping_distance_km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69680" y="169164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4F6FB"/>
          </a:solidFill>
          <a:ln/>
        </p:spPr>
      </p:sp>
      <p:sp>
        <p:nvSpPr>
          <p:cNvPr id="17" name="Shape 15"/>
          <p:cNvSpPr/>
          <p:nvPr/>
        </p:nvSpPr>
        <p:spPr>
          <a:xfrm>
            <a:off x="8869680" y="169164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869680" y="16916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&amp; Channel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034272" y="2331720"/>
            <a:ext cx="22768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is_suspicious_geo (real country mismatch)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channel, merchant_category (one-hot)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4297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5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3200400" y="4709160"/>
            <a:ext cx="5760720" cy="640080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200400" y="470916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Risk Features (25, model-ready)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fabricated: chargeback_history, is_new_beneficiary, and payment_method have no source signal in this dataset and are defaulted rather than invented (see ml/dataset_adapter.py).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RiskGraph AI  |  Razorpay AI Builder Internship 2026 — Track 2: AI Risk Manager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Architecture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model: Random Forest (compared against a Logistic Regression baseline)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263080"/>
          </a:solidFill>
          <a:ln w="12700">
            <a:solidFill>
              <a:srgbClr val="3D4A9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(real)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828800"/>
            <a:ext cx="155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487168" y="182880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263080"/>
          </a:solidFill>
          <a:ln w="12700">
            <a:solidFill>
              <a:srgbClr val="3D4A9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87168" y="18288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178808" y="1828800"/>
            <a:ext cx="155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34256" y="182880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263080"/>
          </a:solidFill>
          <a:ln w="12700">
            <a:solidFill>
              <a:srgbClr val="3D4A9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34256" y="18288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025896" y="1828800"/>
            <a:ext cx="155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81344" y="182880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3D5AFE"/>
          </a:solidFill>
          <a:ln w="12700">
            <a:solidFill>
              <a:srgbClr val="3D4A9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81344" y="18288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(RF)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872984" y="1828800"/>
            <a:ext cx="155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028432" y="182880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263080"/>
          </a:solidFill>
          <a:ln w="12700">
            <a:solidFill>
              <a:srgbClr val="3D4A9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28432" y="18288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720072" y="1828800"/>
            <a:ext cx="155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875520" y="182880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263080"/>
          </a:solidFill>
          <a:ln w="12700">
            <a:solidFill>
              <a:srgbClr val="3D4A9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75520" y="18288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feeding the final risk score: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61188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26308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3703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Risk Engine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023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device/IP/beneficiary clustering (NetworkX)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43400" y="361188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26308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26280" y="3703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Detector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023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— behavior outside learned patterns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46720" y="361188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26308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0" y="3703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4023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YAML policy — deterministic, auditable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" y="49377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41B4D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4400" y="50749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Aggregator combines ML + Graph + Anomaly + Rules → risk_score (0–100) and LOW / MEDIUM / HIGH / CRITICAL. Threshold 0.389, chosen on validation to maximize F1 with a recall floor of 0.5.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RiskGraph AI  |  Razorpay AI Builder Internship 2026 — Track 2: AI Risk Manager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test-set metrics — Random Forest, real dataset, threshold 0.389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59436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5" name="Image 0" descr="confusion_matri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554480"/>
            <a:ext cx="4663440" cy="3694176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5349240"/>
          <a:ext cx="10881360" cy="1097280"/>
        </p:xfrm>
        <a:graphic>
          <a:graphicData uri="http://schemas.openxmlformats.org/drawingml/2006/table">
            <a:tbl>
              <a:tblPr/>
              <a:tblGrid>
                <a:gridCol w="3931920"/>
                <a:gridCol w="1737360"/>
                <a:gridCol w="1737360"/>
                <a:gridCol w="1737360"/>
                <a:gridCol w="17373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(baseline, val)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(selected, test)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trained (no network)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RiskGraph AI  |  Razorpay AI Builder Internship 2026 — Track 2: AI Risk Manager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Prototype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transaction → API → trained model → risk score, live in the frontend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4206240"/>
          </a:xfrm>
          <a:prstGeom prst="roundRect">
            <a:avLst>
              <a:gd name="adj" fmla="val 1739"/>
            </a:avLst>
          </a:prstGeom>
          <a:solidFill>
            <a:srgbClr val="0F14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RiskGraph AI  —  Risk Overview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1A226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377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20440" y="228600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1A226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2377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Txns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228600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1A226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26480" y="2377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Alerts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732520" y="228600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1A226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732520" y="2377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Healthy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73252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Status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Alerts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" y="4069080"/>
            <a:ext cx="9966960" cy="438912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51560" y="40690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txn_real_73041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406908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₹1,238.03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760720" y="406908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406908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595360" y="406908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14400" y="4572000"/>
            <a:ext cx="9966960" cy="438912"/>
          </a:xfrm>
          <a:prstGeom prst="rect">
            <a:avLst/>
          </a:prstGeom>
          <a:solidFill>
            <a:srgbClr val="0F144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51560" y="45720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txn_real_163686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3931920" y="457200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₹2,419.64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760720" y="457200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949440" y="45720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595360" y="457200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14400" y="5074920"/>
            <a:ext cx="9966960" cy="438912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51560" y="50749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txn_real_77020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931920" y="50749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₹53.87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760720" y="50749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949440" y="507492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8595360" y="507492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8978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mockup of the Overview dashboard layout. The 3 alert rows are real predictions from this build (reports/demo_results.json); the KPI counts (N/n) fill in live once you seed transactions (scripts/seed_real_transactions.py) before presenting — use an actual screen recording for the pitch video, not this mockup.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RiskGraph AI  |  Razorpay AI Builder Internship 2026 — Track 2: AI Risk Manager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Scenario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real transactions, scored live through the trained model during this build (reports/demo_results.json)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3429000" cy="685800"/>
          </a:xfrm>
          <a:prstGeom prst="roundRect">
            <a:avLst>
              <a:gd name="adj" fmla="val 13333"/>
            </a:avLst>
          </a:prstGeom>
          <a:solidFill>
            <a:srgbClr val="2E8B5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73736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0604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15.62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918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/ 100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74904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Transaction: txn_real_77020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Amount: ₹53.87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confidence: 0.07%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Long-standing pattern, no red flags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73736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1737360"/>
            <a:ext cx="3429000" cy="685800"/>
          </a:xfrm>
          <a:prstGeom prst="roundRect">
            <a:avLst>
              <a:gd name="adj" fmla="val 13333"/>
            </a:avLst>
          </a:prstGeom>
          <a:solidFill>
            <a:srgbClr val="D4AC0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89120" y="173736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260604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C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56.61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32918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/ 100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74904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Transaction: txn_real_163686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Amount: ₹2,419.64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confidence: 93.75%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Above-baseline amount, model flags elevated risk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173736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38160" y="1737360"/>
            <a:ext cx="3429000" cy="685800"/>
          </a:xfrm>
          <a:prstGeom prst="roundRect">
            <a:avLst>
              <a:gd name="adj" fmla="val 13333"/>
            </a:avLst>
          </a:prstGeom>
          <a:solidFill>
            <a:srgbClr val="E67E2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38160" y="173736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260604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61.79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8138160" y="32918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/ 100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374904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Transaction: txn_real_73041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Amount: ₹1,238.03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confidence: 100.00%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rule + ML signals aligned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RiskGraph AI  |  Razorpay AI Builder Internship 2026 — Track 2: AI Risk Manager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Explanation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ships with why — feature importance, contributing factors, and a recommendation</a:t>
            </a:r>
            <a:endParaRPr lang="en-US" sz="1300" dirty="0"/>
          </a:p>
        </p:txBody>
      </p:sp>
      <p:pic>
        <p:nvPicPr>
          <p:cNvPr id="4" name="Image 0" descr="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512064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160020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E67E2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263640" y="1783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Score: 61.79/100     Level: HIGH     Confidence: 100%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263640" y="2240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Transaction: txn_real_73041   •   Amount: ₹1,238.03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263640" y="2560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reports/demo_results.json (real prediction, not illustrative)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 Signals (actual top-5 by feature importance)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035040" y="36118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distance (km)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AVS (address) match result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account age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fraud alerts on this customer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Amount-to-baseline ratio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035040" y="5166360"/>
            <a:ext cx="5486400" cy="685800"/>
          </a:xfrm>
          <a:prstGeom prst="roundRect">
            <a:avLst>
              <a:gd name="adj" fmla="val 13333"/>
            </a:avLst>
          </a:prstGeom>
          <a:solidFill>
            <a:srgbClr val="F4F6FB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63640" y="51663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⚠ Human Review Required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RiskGraph AI  |  Razorpay AI Builder Internship 2026 — Track 2: AI Risk Manager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changes the analyst's day-to-day, without overclaiming financial figures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141B4D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993392"/>
            <a:ext cx="502920" cy="50292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993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60604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manual reviews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017520"/>
            <a:ext cx="2916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see the highest-risk 0.4% of traffic first (245 false positives out of 59,939 test transactions), not a flat queue.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141B4D"/>
          </a:solidFill>
          <a:ln/>
        </p:spPr>
      </p:sp>
      <p:sp>
        <p:nvSpPr>
          <p:cNvPr id="10" name="Shape 8"/>
          <p:cNvSpPr/>
          <p:nvPr/>
        </p:nvSpPr>
        <p:spPr>
          <a:xfrm>
            <a:off x="4645152" y="1993392"/>
            <a:ext cx="502920" cy="50292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45152" y="1993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4645152" y="260604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fraud exposure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3017520"/>
            <a:ext cx="2916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72.8% of real fraud in the test set is caught automatically at the selected threshold — a concrete, measured reduction, not a projected savings figure.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141B4D"/>
          </a:solidFill>
          <a:ln/>
        </p:spPr>
      </p:sp>
      <p:sp>
        <p:nvSpPr>
          <p:cNvPr id="15" name="Shape 13"/>
          <p:cNvSpPr/>
          <p:nvPr/>
        </p:nvSpPr>
        <p:spPr>
          <a:xfrm>
            <a:off x="8394192" y="1993392"/>
            <a:ext cx="502920" cy="50292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94192" y="1993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🕵️</a:t>
            </a:r>
            <a:endParaRPr lang="en-US" sz="1430" dirty="0"/>
          </a:p>
        </p:txBody>
      </p:sp>
      <p:sp>
        <p:nvSpPr>
          <p:cNvPr id="17" name="Text 15"/>
          <p:cNvSpPr txBox="1"/>
          <p:nvPr/>
        </p:nvSpPr>
        <p:spPr>
          <a:xfrm>
            <a:off x="8394192" y="260604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behavioral patterns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94192" y="3017520"/>
            <a:ext cx="2916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 ring detection exposes coordinated fraud a single-transaction check would miss entirely.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40080" y="406908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141B4D"/>
          </a:solidFill>
          <a:ln/>
        </p:spPr>
      </p:sp>
      <p:sp>
        <p:nvSpPr>
          <p:cNvPr id="20" name="Shape 18"/>
          <p:cNvSpPr/>
          <p:nvPr/>
        </p:nvSpPr>
        <p:spPr>
          <a:xfrm>
            <a:off x="896112" y="4325112"/>
            <a:ext cx="502920" cy="50292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6112" y="4325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143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493776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operational efficiency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5349240"/>
            <a:ext cx="2916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LOW/MEDIUM cases route automatically; only HIGH/CRITICAL reach a human, cutting review volume without cutting oversight.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4389120" y="406908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141B4D"/>
          </a:solidFill>
          <a:ln/>
        </p:spPr>
      </p:sp>
      <p:sp>
        <p:nvSpPr>
          <p:cNvPr id="25" name="Shape 23"/>
          <p:cNvSpPr/>
          <p:nvPr/>
        </p:nvSpPr>
        <p:spPr>
          <a:xfrm>
            <a:off x="4645152" y="4325112"/>
            <a:ext cx="502920" cy="50292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45152" y="4325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1430" dirty="0"/>
          </a:p>
        </p:txBody>
      </p:sp>
      <p:sp>
        <p:nvSpPr>
          <p:cNvPr id="27" name="Text 25"/>
          <p:cNvSpPr txBox="1"/>
          <p:nvPr/>
        </p:nvSpPr>
        <p:spPr>
          <a:xfrm>
            <a:off x="4645152" y="493776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defense-in-depth layer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645152" y="5349240"/>
            <a:ext cx="2916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 graph + rules + anomaly detection means no single failure mode compromises the whole system (see Limitations).</a:t>
            </a:r>
            <a:endParaRPr lang="en-US" sz="98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RiskGraph AI  |  Razorpay AI Builder Internship 2026 — Track 2: AI Risk Manager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141B4D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581912"/>
            <a:ext cx="502920" cy="50292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4173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ingestion (Kafka / webhooks)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41732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141B4D"/>
          </a:solidFill>
          <a:ln/>
        </p:spPr>
      </p:sp>
      <p:sp>
        <p:nvSpPr>
          <p:cNvPr id="9" name="Shape 7"/>
          <p:cNvSpPr/>
          <p:nvPr/>
        </p:nvSpPr>
        <p:spPr>
          <a:xfrm>
            <a:off x="6473952" y="1581912"/>
            <a:ext cx="502920" cy="50292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73952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3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14173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 abuse-ring detection with real device/IP intelligence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46888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141B4D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2633472"/>
            <a:ext cx="502920" cy="50292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3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4688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SHAP-based per-prediction explainability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246888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141B4D"/>
          </a:solidFill>
          <a:ln/>
        </p:spPr>
      </p:sp>
      <p:sp>
        <p:nvSpPr>
          <p:cNvPr id="17" name="Shape 15"/>
          <p:cNvSpPr/>
          <p:nvPr/>
        </p:nvSpPr>
        <p:spPr>
          <a:xfrm>
            <a:off x="6473952" y="2633472"/>
            <a:ext cx="502920" cy="50292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73952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3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24688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relationship graphs across multiple data sources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352044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141B4D"/>
          </a:solidFill>
          <a:ln/>
        </p:spPr>
      </p:sp>
      <p:sp>
        <p:nvSpPr>
          <p:cNvPr id="21" name="Shape 19"/>
          <p:cNvSpPr/>
          <p:nvPr/>
        </p:nvSpPr>
        <p:spPr>
          <a:xfrm>
            <a:off x="804672" y="3685032"/>
            <a:ext cx="502920" cy="50292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4672" y="3685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3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35204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model monitoring and drift detection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09360" y="352044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141B4D"/>
          </a:solidFill>
          <a:ln/>
        </p:spPr>
      </p:sp>
      <p:sp>
        <p:nvSpPr>
          <p:cNvPr id="25" name="Shape 23"/>
          <p:cNvSpPr/>
          <p:nvPr/>
        </p:nvSpPr>
        <p:spPr>
          <a:xfrm>
            <a:off x="6473952" y="3685032"/>
            <a:ext cx="502920" cy="50292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73952" y="3685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3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35204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with authentication &amp; authorization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5074920"/>
            <a:ext cx="10881360" cy="0"/>
          </a:xfrm>
          <a:prstGeom prst="line">
            <a:avLst/>
          </a:prstGeom>
          <a:noFill/>
          <a:ln w="12700">
            <a:solidFill>
              <a:srgbClr val="3D4A9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5394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Transaction Data → AI Risk Decision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RiskGraph AI  |  Razorpay AI Builder Internship 2026 — Track 2: AI Risk Manager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2026-09-03T10:04:58Z</dcterms:created>
  <dcterms:modified xsi:type="dcterms:W3CDTF">2026-09-03T10:04:58Z</dcterms:modified>
</cp:coreProperties>
</file>